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381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23160"/>
            <a:ext cx="12191695" cy="381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91695" cy="381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AI创新生态廊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7DD8"/>
                </a:solidFill>
                <a:latin typeface="Microsoft YaHei"/>
              </a:defRPr>
            </a:pPr>
            <a:r>
              <a:t>AI Innovation Ecosystem Corridor (AIEC)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923C"/>
                </a:solidFill>
                <a:latin typeface="Microsoft YaHei"/>
              </a:defRPr>
            </a:pPr>
            <a:r>
              <a:t>百年京张的智能新生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5029200"/>
            <a:ext cx="393192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BBCC"/>
                </a:solidFill>
                <a:latin typeface="Microsoft YaHei"/>
              </a:defRPr>
            </a:pPr>
            <a:r>
              <a:t>百年京张AI创新带城市设计开源征集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提交者: Jefferson-qi  |  版本: v1.2  |  2026年8月</a:t>
            </a:r>
          </a:p>
        </p:txBody>
      </p:sp>
      <p:sp>
        <p:nvSpPr>
          <p:cNvPr id="11" name="Oval 10"/>
          <p:cNvSpPr/>
          <p:nvPr/>
        </p:nvSpPr>
        <p:spPr>
          <a:xfrm>
            <a:off x="5394960" y="6126480"/>
            <a:ext cx="228600" cy="228600"/>
          </a:xfrm>
          <a:prstGeom prst="ellipse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0" y="6126480"/>
            <a:ext cx="228600" cy="228600"/>
          </a:xfrm>
          <a:prstGeom prst="ellipse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60" y="6126480"/>
            <a:ext cx="228600" cy="228600"/>
          </a:xfrm>
          <a:prstGeom prst="ellipse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目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898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设计依据与三层范围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6420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Design Framework &amp; Three-Tier Scope</a:t>
            </a:r>
          </a:p>
        </p:txBody>
      </p:sp>
      <p:sp>
        <p:nvSpPr>
          <p:cNvPr id="9" name="Oval 8"/>
          <p:cNvSpPr/>
          <p:nvPr/>
        </p:nvSpPr>
        <p:spPr>
          <a:xfrm>
            <a:off x="5852160" y="1371600"/>
            <a:ext cx="457200" cy="457200"/>
          </a:xfrm>
          <a:prstGeom prst="ellipse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3898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总体概念：AI创新生态廊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6420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Overall Concept: AIEC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76272"/>
            <a:ext cx="457200" cy="457200"/>
          </a:xfrm>
          <a:prstGeom prst="ellipse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94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全球案例与科创生态研究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688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Global Cases &amp; Innovation Ecosystem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0" y="2176272"/>
            <a:ext cx="457200" cy="457200"/>
          </a:xfrm>
          <a:prstGeom prst="ellipse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科创生态四大支柱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688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Four Pillars of Innovation Ecosystem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2980944"/>
            <a:ext cx="457200" cy="457200"/>
          </a:xfrm>
          <a:prstGeom prst="ellipse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9992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基地整理四原则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27355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Four Principles of Site Organization</a:t>
            </a:r>
          </a:p>
        </p:txBody>
      </p:sp>
      <p:sp>
        <p:nvSpPr>
          <p:cNvPr id="21" name="Oval 20"/>
          <p:cNvSpPr/>
          <p:nvPr/>
        </p:nvSpPr>
        <p:spPr>
          <a:xfrm>
            <a:off x="5852160" y="2980944"/>
            <a:ext cx="457200" cy="457200"/>
          </a:xfrm>
          <a:prstGeom prst="ellipse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9992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空间结构与用地布局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7355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Spatial Structure &amp; Land Use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3785616"/>
            <a:ext cx="457200" cy="457200"/>
          </a:xfrm>
          <a:prstGeom prst="ellipse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039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开放创新街区与邻里中心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07822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Open Innovation Blocks &amp; Neighborhood Centers</a:t>
            </a:r>
          </a:p>
        </p:txBody>
      </p:sp>
      <p:sp>
        <p:nvSpPr>
          <p:cNvPr id="27" name="Oval 26"/>
          <p:cNvSpPr/>
          <p:nvPr/>
        </p:nvSpPr>
        <p:spPr>
          <a:xfrm>
            <a:off x="5852160" y="3785616"/>
            <a:ext cx="457200" cy="457200"/>
          </a:xfrm>
          <a:prstGeom prst="ellipse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8039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三大重点区域详细设计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07822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Three Key Areas Detailed Design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4590288"/>
            <a:ext cx="457200" cy="457200"/>
          </a:xfrm>
          <a:prstGeom prst="ellipse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6085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AI场景与朝圣地标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88289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AI Scenarios &amp; Landmarks</a:t>
            </a:r>
          </a:p>
        </p:txBody>
      </p:sp>
      <p:sp>
        <p:nvSpPr>
          <p:cNvPr id="33" name="Oval 32"/>
          <p:cNvSpPr/>
          <p:nvPr/>
        </p:nvSpPr>
        <p:spPr>
          <a:xfrm>
            <a:off x="5852160" y="4590288"/>
            <a:ext cx="457200" cy="457200"/>
          </a:xfrm>
          <a:prstGeom prst="ellipse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6085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蓝绿空间与交通系统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88289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Blue-Green Space &amp; Transportation</a:t>
            </a:r>
          </a:p>
        </p:txBody>
      </p:sp>
      <p:sp>
        <p:nvSpPr>
          <p:cNvPr id="36" name="Oval 35"/>
          <p:cNvSpPr/>
          <p:nvPr/>
        </p:nvSpPr>
        <p:spPr>
          <a:xfrm>
            <a:off x="548640" y="5394960"/>
            <a:ext cx="457200" cy="457200"/>
          </a:xfrm>
          <a:prstGeom prst="ellipse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54132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实施分期与核心指标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68756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Phasing &amp; Core Metrics</a:t>
            </a:r>
          </a:p>
        </p:txBody>
      </p:sp>
      <p:sp>
        <p:nvSpPr>
          <p:cNvPr id="39" name="Oval 38"/>
          <p:cNvSpPr/>
          <p:nvPr/>
        </p:nvSpPr>
        <p:spPr>
          <a:xfrm>
            <a:off x="5852160" y="5394960"/>
            <a:ext cx="457200" cy="457200"/>
          </a:xfrm>
          <a:prstGeom prst="ellipse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4132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版权声明与合规说明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68756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Copyright &amp; Compliance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设计依据与三层范围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Design Framework &amp; Three-Tier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566160" cy="7315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7DD8"/>
                </a:solidFill>
                <a:latin typeface="Microsoft YaHei"/>
              </a:defRPr>
            </a:pPr>
            <a:r>
              <a:t>统筹研究范围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43.6 km²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战略研究和产业统筹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71800"/>
            <a:ext cx="301752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 世界级AI创新生态体系研究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 产业链协同分析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 三区两翼区域协同研究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 未来AI城市形态研究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371600"/>
            <a:ext cx="35661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371600"/>
            <a:ext cx="3566160" cy="73152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923C"/>
                </a:solidFill>
                <a:latin typeface="Microsoft YaHei"/>
              </a:defRPr>
            </a:pPr>
            <a:r>
              <a:t>总体设计范围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11.4 km²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606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控规城市设计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971800"/>
            <a:ext cx="301752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 功能布局与用地结构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 城市更新框架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 交通组织与市政配套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 公共空间体系与城市风貌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371600"/>
            <a:ext cx="35661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371600"/>
            <a:ext cx="3566160" cy="73152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AE6F"/>
                </a:solidFill>
                <a:latin typeface="Microsoft YaHei"/>
              </a:defRPr>
            </a:pPr>
            <a:r>
              <a:t>重点区域范围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3.684 km²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606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规划综合实施方案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2971800"/>
            <a:ext cx="301752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 众智园AI加速区 (192.1ha)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 AI原点社区 (104.3ha)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 大钟寺AI产业区 (72.0ha)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 详细城市设计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74C3C"/>
                </a:solidFill>
                <a:latin typeface="Microsoft YaHei"/>
              </a:defRPr>
            </a:pPr>
            <a:r>
              <a:t>* 所有面积基于临时粗略边界（provisional_rough），官方精确边界补齐后需重新复算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总体概念：AI创新生态廊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Overall Concept: AIEC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Microsoft YaHei"/>
              </a:defRPr>
            </a:pPr>
            <a:r>
              <a:t>"廊"——回应京张铁路百年走廊身份，表达AI创新生态线性生长系统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097280" cy="82296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t>一廊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京张智脉走廊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京张铁路遗址公园为骨干，全长约9公里，沿线布局AI场景节点、开源展示廊、开发者散步道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71800"/>
            <a:ext cx="1097280" cy="822960"/>
          </a:xfrm>
          <a:prstGeom prst="round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t>三区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南北串联功能链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83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众智园AI加速区（研发）→AI原点社区（生活）→大钟寺产业区（转化）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1097280" cy="822960"/>
          </a:xfrm>
          <a:prstGeom prst="round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t>两翼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东西延伸服务翼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434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中关村科技服务翼（资本/IP/要素配置）+ 小月河场景赋能翼（场景试验/城市活力）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1097280" cy="822960"/>
          </a:xfrm>
          <a:prstGeom prst="round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t>多节点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公共空间网络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486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AI开发者广场、开源成果展示廊、智能体贡献荣誉墙、京张文化体验广场等6个核心节点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144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Logo方向：京张铁路轨道平行线 × 神经网络节点拓扑  |  科技蓝#3B7DD8 · 铁路橙#E8923C · 生态绿#5BAE6F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全球AI创新生态案例研究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Global AI Innovation Ecosystem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566160" cy="457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7DD8"/>
                </a:solidFill>
                <a:latin typeface="Microsoft YaHei"/>
              </a:defRPr>
            </a:pPr>
            <a:r>
              <a:t>谷歌山景城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美国加州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开放式园区与城市融合，AI研发与公共空间无界衔接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3200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7DD8"/>
                </a:solidFill>
                <a:latin typeface="Microsoft YaHei"/>
              </a:defRPr>
            </a:pPr>
            <a:r>
              <a:t>→ 众智园打破围墙，与京张遗址公园无缝衔接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566160" cy="4572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923C"/>
                </a:solidFill>
                <a:latin typeface="Microsoft YaHei"/>
              </a:defRPr>
            </a:pPr>
            <a:r>
              <a:t>新加坡One-North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830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新加坡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057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科技园区与居住商业文化混合布局，TOD导向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2743200"/>
            <a:ext cx="3200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923C"/>
                </a:solidFill>
                <a:latin typeface="Microsoft YaHei"/>
              </a:defRPr>
            </a:pPr>
            <a:r>
              <a:t>→ AI原点社区采用混合功能，轨道站点为核心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37160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371600"/>
            <a:ext cx="3566160" cy="45720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AE6F"/>
                </a:solidFill>
                <a:latin typeface="Microsoft YaHei"/>
              </a:defRPr>
            </a:pPr>
            <a:r>
              <a:t>伦敦King's Cross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7830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英国伦敦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057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铁路遗址再生为创新街区，历史建筑与AI办公共生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2743200"/>
            <a:ext cx="3200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E6F"/>
                </a:solidFill>
                <a:latin typeface="Microsoft YaHei"/>
              </a:defRPr>
            </a:pPr>
            <a:r>
              <a:t>→ 大钟寺保留铁路工业遗存，与AI新业态叠合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8404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840480"/>
            <a:ext cx="3566160" cy="457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7DD8"/>
                </a:solidFill>
                <a:latin typeface="Microsoft YaHei"/>
              </a:defRPr>
            </a:pPr>
            <a:r>
              <a:t>深圳南山科技园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2519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中国深圳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526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产业链上下游集聚，研发到产业化完整链条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212080"/>
            <a:ext cx="3200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303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7DD8"/>
                </a:solidFill>
                <a:latin typeface="Microsoft YaHei"/>
              </a:defRPr>
            </a:pPr>
            <a:r>
              <a:t>→ 三区形成从基础研究到产业转化的南北链条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38404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3840480"/>
            <a:ext cx="3566160" cy="4572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923C"/>
                </a:solidFill>
                <a:latin typeface="Microsoft YaHei"/>
              </a:defRPr>
            </a:pPr>
            <a:r>
              <a:t>东京涩谷Stream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2519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日本东京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526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轨道枢纽站城一体化，AI场景嵌入日常生活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5212080"/>
            <a:ext cx="3200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5303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923C"/>
                </a:solidFill>
                <a:latin typeface="Microsoft YaHei"/>
              </a:defRPr>
            </a:pPr>
            <a:r>
              <a:t>→ 轨道站点周边布局AI生活场景体验功能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38404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3840480"/>
            <a:ext cx="3566160" cy="45720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AE6F"/>
                </a:solidFill>
                <a:latin typeface="Microsoft YaHei"/>
              </a:defRPr>
            </a:pPr>
            <a:r>
              <a:t>巴黎Station 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2519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法国巴黎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526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旧火车站改造为全球最大创业园区，开放创新平台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5212080"/>
            <a:ext cx="3200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5303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E6F"/>
                </a:solidFill>
                <a:latin typeface="Microsoft YaHei"/>
              </a:defRPr>
            </a:pPr>
            <a:r>
              <a:t>→ 京张铁路遗址建筑改造为AI加速器和开放实验室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波士顿 vs 纽约：科创生态对比研究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Boston vs New York: Innovation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波士顿的教训：“要素优先妄想症”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拥有哈佛、MIT等顶级学府，近300名诺奖得主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2025年风投总额仅约60亿美元（纽约1/4）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2026年独角兽仅20家（纽约141家）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spcAft>
                <a:spcPts val="519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三大制度与文化障碍：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⚠ 制度性障碍：QSBS拒绝豁免、4%富人附加税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⚠ “海盗文化”：投资人压迫科创者，零和博弈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⚠ “怨恨文化”：社会对创新成功者持敌意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30352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303520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纽约的逆袭：科创生态“五件套”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7DD8"/>
                </a:solidFill>
                <a:latin typeface="Microsoft YaHei"/>
              </a:defRPr>
            </a:pPr>
            <a: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745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应用科学计划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1671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康奈尔创新研究院等新型大学园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7DD8"/>
                </a:solidFill>
                <a:latin typeface="Microsoft YaHei"/>
              </a:defRPr>
            </a:pPr>
            <a: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5603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生活品质之城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8529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咖啡馆/书店/博物馆密集布局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461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7DD8"/>
                </a:solidFill>
                <a:latin typeface="Microsoft YaHei"/>
              </a:defRPr>
            </a:pPr>
            <a: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461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众创空间计划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5387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孵化器+联合办公+创客空间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319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7DD8"/>
                </a:solidFill>
                <a:latin typeface="Microsoft YaHei"/>
              </a:defRPr>
            </a:pPr>
            <a: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9319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融资激励计划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245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电费优惠30-35%、减税退税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6177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7DD8"/>
                </a:solidFill>
                <a:latin typeface="Microsoft YaHei"/>
              </a:defRPr>
            </a:pPr>
            <a: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6177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设施更新计划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9103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公共WiFi、混合型公寓、移民社区改造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3949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7DD8"/>
                </a:solidFill>
                <a:latin typeface="Microsoft YaHei"/>
              </a:defRPr>
            </a:pPr>
            <a:r>
              <a:t>截至2025年末：8000+初创公司、36万高科技从业者、125家独角兽，总市值超1000亿美元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Microsoft YaHei"/>
              </a:defRPr>
            </a:pPr>
            <a:r>
              <a:t>核心结论：警惕“要素优先妄想症”——软环境是创新的空气和水，草根力量是创新源泉，移民是创新超级引擎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南岸新地OPC创新社区模式借鉴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OPC Innovation Community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Microsoft YaHei"/>
              </a:defRPr>
            </a:pPr>
            <a:r>
              <a:t>核心理念："单人成军 · AI赋能 · 全球出海 · 产业深耕"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1031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103120" cy="457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Microsoft YaHei"/>
              </a:defRPr>
            </a:pPr>
            <a: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基础承载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51760"/>
            <a:ext cx="18288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轻创零门槛（轻启动空间）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54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下楼款创业（安居续航）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828800"/>
            <a:ext cx="21031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1828800"/>
            <a:ext cx="2103120" cy="4572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1965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923C"/>
                </a:solidFill>
                <a:latin typeface="Microsoft YaHei"/>
              </a:defRPr>
            </a:pPr>
            <a: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政务专业保障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2651760"/>
            <a:ext cx="18288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政策一站通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154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数科合规通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企服全托管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1828800"/>
            <a:ext cx="21031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0" y="1828800"/>
            <a:ext cx="2103120" cy="45720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7800" y="1965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AE6F"/>
                </a:solidFill>
                <a:latin typeface="Microsoft YaHei"/>
              </a:defRPr>
            </a:pPr>
            <a: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能力成长与实战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2651760"/>
            <a:ext cx="18288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续航充电站（创业成长）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154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实战练真功（产业课堂）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1828800"/>
            <a:ext cx="21031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6640" y="1828800"/>
            <a:ext cx="2103120" cy="457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1965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Microsoft YaHei"/>
              </a:defRPr>
            </a:pPr>
            <a:r>
              <a:t>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技术赋能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2651760"/>
            <a:ext cx="18288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工具赋战力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154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算力普惠享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大模全链路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92640" y="1828800"/>
            <a:ext cx="21031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92640" y="1828800"/>
            <a:ext cx="2103120" cy="4572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29800" y="1965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923C"/>
                </a:solidFill>
                <a:latin typeface="Microsoft YaHei"/>
              </a:defRPr>
            </a:pPr>
            <a: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市场转化与资源链接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9800" y="2651760"/>
            <a:ext cx="18288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2980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出海全集成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3154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资本精准链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直播轻创业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市场试炼场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303520"/>
            <a:ext cx="11064240" cy="91440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3949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OPC五分钟生活圈 → 京张AI原点社区邻里中心体系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BCC"/>
                </a:solidFill>
                <a:latin typeface="Microsoft YaHei"/>
              </a:defRPr>
            </a:pPr>
            <a:r>
              <a:t>每个邻里中心即一个OPC生态节点——创业者下楼即创业、五分钟即生活。“超级个体+AI+社区”微观创新单元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科创生态体系构建策略：四大支柱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Four Pillars of Innovation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949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73152" cy="246888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7DD8"/>
                </a:solidFill>
                <a:latin typeface="Microsoft YaHei"/>
              </a:defRPr>
            </a:pPr>
            <a:r>
              <a:t>支柱一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超越“要素优先”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从硬投入到软生态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低摩擦营商环境：AI企业一站式服务通道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信任契约精神：开源共治，代码替代人情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8094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包容失败的文化：试错基金、失败者致敬墙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284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崇拜科创者的社会氛围：荣誉墙、AI里程碑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280160"/>
            <a:ext cx="53949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280160"/>
            <a:ext cx="73152" cy="246888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371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923C"/>
                </a:solidFill>
                <a:latin typeface="Microsoft YaHei"/>
              </a:defRPr>
            </a:pPr>
            <a:r>
              <a:t>支柱二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纽约“五件套”本地化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965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京张科创生态五工具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286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应用科学引擎：清华北大AI研究院入驻众智园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334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生活品质之城：开发者咖啡馆、AI书店、开源博物馆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98094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众创空间网络：廊道每500米设一个众创节点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3284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融资激励工具：AI企业专项税收减免、算力补贴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86200"/>
            <a:ext cx="53949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886200"/>
            <a:ext cx="73152" cy="2468880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977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E6F"/>
                </a:solidFill>
                <a:latin typeface="Microsoft YaHei"/>
              </a:defRPr>
            </a:pPr>
            <a:r>
              <a:t>支柱三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OPC生态嵌入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超级个体的创新基础设施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92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空间：人才公寓底层设OPC轻创空间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395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服务：政务直通、合规托管一站式接入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8698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技术：端侧算力节点向OPC开发者普惠开放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9344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市场：AI场景市场连接中关村资本与全球出海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886200"/>
            <a:ext cx="53949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3886200"/>
            <a:ext cx="73152" cy="246888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977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923C"/>
                </a:solidFill>
                <a:latin typeface="Microsoft YaHei"/>
              </a:defRPr>
            </a:pPr>
            <a:r>
              <a:t>支柱四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草根创新与多元人才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让创新从土壤中生长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892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激发多元草根创新：不设门槛的众创空间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2395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吸纳全球人才：国际人才绿色通道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58698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培育跨界思维：文化+科技、艺术+AI跨界活动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9344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15分钟科创生活圈：来了不想走的创新城区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基地整理四原则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Four Principles of Site Organization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7DD8"/>
                </a:solidFill>
                <a:latin typeface="Microsoft YaHei"/>
              </a:defRPr>
            </a:pPr>
            <a:r>
              <a:t>水系定底（生态本底）→ 绿地成网（生态系统）→ 道路为骨（空间框架）→ 铁路铸魂（文化特色）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949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394960" cy="54864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013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E6F"/>
                </a:solidFill>
                <a:latin typeface="Microsoft YaHei"/>
              </a:defRPr>
            </a:pPr>
            <a:r>
              <a:t>原则一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39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水系优先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小月河水系保护：划定河道蓝线和滨水生态控制线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163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水系连通修复：恢复暗渠和断头水系，打造“京张水脉”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6382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海绵基底先行：年径流总量控制率 ≥ 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1129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滨水空间公共化：岸线全线公共开放，禁止私有化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91640"/>
            <a:ext cx="53949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91640"/>
            <a:ext cx="5394960" cy="54864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8013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E6F"/>
                </a:solidFill>
                <a:latin typeface="Microsoft YaHei"/>
              </a:defRPr>
            </a:pPr>
            <a:r>
              <a:t>原则二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039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绿地系统联通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468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京张走廊绿脊贯通：9公里走廊无断点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163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小月河滨水绿带联通：T字绿网骨架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6382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社区绿道织网：500米半径绿地服务圈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1129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绿量刚性控制：绿地率≥35%，绿化覆盖率≥45%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53949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069080"/>
            <a:ext cx="5394960" cy="54864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17880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923C"/>
                </a:solidFill>
                <a:latin typeface="Microsoft YaHei"/>
              </a:defRPr>
            </a:pPr>
            <a:r>
              <a:t>原则三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16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道路系统是骨架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46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主干路保持现状：不新增主干路，避免割裂肌理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1937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支路网加密：街区尺度80-120米，密度≥10km/km²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412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慢行廊道骨架：京张走廊南北主轴+小月河东西次轴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88873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街道界面控制：支路贴线率≥70%，连续街道界面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069080"/>
            <a:ext cx="53949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069080"/>
            <a:ext cx="5394960" cy="54864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17880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923C"/>
                </a:solidFill>
                <a:latin typeface="Microsoft YaHei"/>
              </a:defRPr>
            </a:pPr>
            <a:r>
              <a:t>原则四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416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京张铁路是文化特色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846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铁路遗址保护优先：勘查、登记、保护不可破坏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1937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铁路空间再生：线性公园（参照纽约高线公园）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5412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文化叙事植入：詹天佑精神+百年铁路技术演进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88873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铁路元素转译：铁轨枕木→城市家具、铺装纹样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空间结构与用地布局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Spatial Structure &amp; Land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7DD8"/>
                </a:solidFill>
                <a:latin typeface="Microsoft YaHei"/>
              </a:defRPr>
            </a:pPr>
            <a:r>
              <a:t>"一廊三区两翼多节点"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923C"/>
                </a:solidFill>
                <a:latin typeface="Microsoft YaHei"/>
              </a:defRPr>
            </a:pPr>
            <a:r>
              <a:t>一廊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京张智脉走廊 · 全长9km · AI创新生态物理主轴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923C"/>
                </a:solidFill>
                <a:latin typeface="Microsoft YaHei"/>
              </a:defRPr>
            </a:pPr>
            <a:r>
              <a:t>三区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众智园AI加速区 → AI原点社区 → 大钟寺产业区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923C"/>
                </a:solidFill>
                <a:latin typeface="Microsoft YaHei"/>
              </a:defRPr>
            </a:pPr>
            <a:r>
              <a:t>两翼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中关村科技服务翼（东）+ 小月河场景赋能翼（西）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923C"/>
                </a:solidFill>
                <a:latin typeface="Microsoft YaHei"/>
              </a:defRPr>
            </a:pPr>
            <a:r>
              <a:t>多节点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6个公共空间节点 · AI开发者广场、开源展示廊等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用地分区（10类）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691640"/>
            <a:ext cx="5029200" cy="32004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7099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编号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709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用地类型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1709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位置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011680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039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LU-001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039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AI研发用地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039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众智园区域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359152"/>
            <a:ext cx="50292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3865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LU-002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3865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实验室加速器用地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3865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众智园区域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706624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7340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LU-003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27340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混合功能核心用地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7340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AI原点社区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3054096"/>
            <a:ext cx="50292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081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LU-004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081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人才公寓用地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081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AI原点社区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401568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3429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LU-005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产业办公用地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大钟寺区域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749040"/>
            <a:ext cx="50292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37764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LU-006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3776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智能商业服务用地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776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大钟寺区域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4096512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123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LU-007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4123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遗址公园绿地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4123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京张走廊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4443984"/>
            <a:ext cx="50292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44714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LU-008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44714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文化展示用地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44714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走廊东侧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4791456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48188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LU-009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4818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教育科研用地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4818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连接区域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5138928"/>
            <a:ext cx="50292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0" y="5166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LU-010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096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社区服务用地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连接区域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4754880"/>
            <a:ext cx="5486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8640" y="4754880"/>
            <a:ext cx="5486400" cy="36576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AE6F"/>
                </a:solidFill>
                <a:latin typeface="Microsoft YaHei"/>
              </a:defRPr>
            </a:pPr>
            <a:r>
              <a:t>城市更新策略：保留-改造-新建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5166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▶ 保留：铁路遗址历史建筑、大钟寺文保建筑、优质社区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▶ 改造：科研建筑智能化升级、社区AI赋能改造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▶ 新建：三区核心AI研发楼宇、人才公寓、混合功能建筑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开放创新街区体系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Open Innovation Block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核心理念：创新街区必须开放，形成创新生态圈——没有围墙、没有门禁、没有封闭边界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974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697480" cy="457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54480" y="2011680"/>
            <a:ext cx="640080" cy="640080"/>
          </a:xfrm>
          <a:prstGeom prst="ellipse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B7DD8"/>
                </a:solidFill>
                <a:latin typeface="Microsoft YaHei"/>
              </a:defRPr>
            </a:pPr>
            <a:r>
              <a:t>街道渗透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内部道路向城市开放，取消围墙。支路密度≥10km/km²，5分钟可达公交站点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828800"/>
            <a:ext cx="26974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828800"/>
            <a:ext cx="2697480" cy="4572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34840" y="2011680"/>
            <a:ext cx="640080" cy="640080"/>
          </a:xfrm>
          <a:prstGeom prst="ellipse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923C"/>
                </a:solidFill>
                <a:latin typeface="Microsoft YaHei"/>
              </a:defRPr>
            </a:pPr>
            <a:r>
              <a:t>功能混合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017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研发/办公/居住/商业/文化水平混合，底层强制公共服务和商业界面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28800"/>
            <a:ext cx="26974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2697480" cy="45720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0" y="2011680"/>
            <a:ext cx="640080" cy="640080"/>
          </a:xfrm>
          <a:prstGeom prst="ellipse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BAE6F"/>
                </a:solidFill>
                <a:latin typeface="Microsoft YaHei"/>
              </a:defRPr>
            </a:pPr>
            <a:r>
              <a:t>界面透明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17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研发实验室首层设展示窗口，孵化器底层设开放工位，创新不是黑箱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828800"/>
            <a:ext cx="26974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828800"/>
            <a:ext cx="2697480" cy="4572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95560" y="2011680"/>
            <a:ext cx="640080" cy="640080"/>
          </a:xfrm>
          <a:prstGeom prst="ellipse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923C"/>
                </a:solidFill>
                <a:latin typeface="Microsoft YaHei"/>
              </a:defRPr>
            </a:pPr>
            <a:r>
              <a:t>生态互联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017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三区通过慢行系统+AI导览+开源平台三重通道互联，创新在网络中涌现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7490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三区开放街区差异化设计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1480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114800"/>
            <a:ext cx="3566160" cy="457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crosoft YaHei"/>
              </a:defRPr>
            </a:pPr>
            <a:r>
              <a:t>众智园开放研发街区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663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研发楼宇沿街道布局，底层开放实验室展示窗口和公共算力接入站。街区中心设开源广场，参照柏林Silicon Allee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11480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4114800"/>
            <a:ext cx="3566160" cy="4572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923C"/>
                </a:solidFill>
                <a:latin typeface="Microsoft YaHei"/>
              </a:defRPr>
            </a:pPr>
            <a:r>
              <a:t>AI原点社区开放生活街区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663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居住/工作/服务水平混合，街道宽度12-18米，每个街区至少一处邻里中心，5分钟步行覆盖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11480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4114800"/>
            <a:ext cx="3566160" cy="45720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AE6F"/>
                </a:solidFill>
                <a:latin typeface="Microsoft YaHei"/>
              </a:defRPr>
            </a:pPr>
            <a:r>
              <a:t>大钟寺开放产业街区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663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产业办公/商业/文化垂直混合，底层商业界面连续率≥70%，打破产业园与城市的二元分隔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邻里中心与宜居社区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Neighborhood Centers &amp; Livable Community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7DD8"/>
                </a:solidFill>
                <a:latin typeface="Microsoft YaHei"/>
              </a:defRPr>
            </a:pPr>
            <a:r>
              <a:t>以邻里中心为特色构建宜居社区——参照新加坡邻里中心（Neighborhood Center）模式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级别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55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名称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79" y="1755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服务半径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55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服务人口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755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1755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数量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0312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194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7DD8"/>
                </a:solidFill>
                <a:latin typeface="Microsoft YaHei"/>
              </a:defRPr>
            </a:pPr>
            <a:r>
              <a:t>一级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94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社区邻里中心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194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300米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194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5,000-8,000人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日常商业/社区医疗站/托幼/老年日间照料/社区活动室/共享办公角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2194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crosoft YaHei"/>
              </a:defRPr>
            </a:pPr>
            <a:r>
              <a:t>8个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743200"/>
            <a:ext cx="1106424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834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923C"/>
                </a:solidFill>
                <a:latin typeface="Microsoft YaHei"/>
              </a:defRPr>
            </a:pPr>
            <a:r>
              <a:t>二级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2834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街区邻里中心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28346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800米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834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20,000-30,000人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834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综合商业/社区卫生中心/中小学/文体中心/创客空间/社区厨房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2834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923C"/>
                </a:solidFill>
                <a:latin typeface="Microsoft YaHei"/>
              </a:defRPr>
            </a:pPr>
            <a:r>
              <a:t>3个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38328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AE6F"/>
                </a:solidFill>
                <a:latin typeface="Microsoft YaHei"/>
              </a:defRPr>
            </a:pPr>
            <a:r>
              <a:t>三级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474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走廊邻里枢纽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2公里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474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全创新带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3474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AI体验中心/国际社区服务中心/创新创业服务大厅/文化展演空间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AE6F"/>
                </a:solidFill>
                <a:latin typeface="Microsoft YaHei"/>
              </a:defRPr>
            </a:pPr>
            <a:r>
              <a:t>1个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五项设计原则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572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1. 一站式集中布局（参照新加坡淡滨尼天地）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8920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2. 步行优先选址（一级300m / 二级结合轨道站点）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212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3. AI赋能服务（AI健康诊站/教育辅导站/社区议事厅）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532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4. 开放共享空间（公共客厅/社区厨房/屋顶花园）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852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5. 弹性适应设计（白天服务/晚间市集，利用率40%→80%+）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4206240"/>
            <a:ext cx="5029200" cy="210312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42976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五分钟生活圈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6634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✓ 社区医疗站 + 托幼机构 + 生鲜市集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✓ 社区健身点 + 共享办公角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✓ 老年活动室 + 社区花园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✓ AI服务终端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五分钟生活圈覆盖创新带内 90% 以上居住人口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重点区域一：众智园AI自主创新加速区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Key Area 1: Zhongzhiyuan AI Acceleration Zone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743200" cy="91440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DDFF"/>
                </a:solidFill>
                <a:latin typeface="Microsoft YaHei"/>
              </a:defRPr>
            </a:pPr>
            <a:r>
              <a:t>面积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192.1 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234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定位：AI全栈自主创新体系核心承载区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世界级AI基础研究和前沿技术研发的策源地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65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crosoft YaHei"/>
              </a:defRPr>
            </a:pPr>
            <a:r>
              <a:t>空间结构："研发核心 + 加速环 + 测试场"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7DD8"/>
                </a:solidFill>
                <a:latin typeface="Microsoft YaHei"/>
              </a:defRPr>
            </a:pPr>
            <a:r>
              <a:t>研发核心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317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区域中心 · AI研发楼宇 + 开源创新实验室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923C"/>
                </a:solidFill>
                <a:latin typeface="Microsoft YaHei"/>
              </a:defRPr>
            </a:pPr>
            <a:r>
              <a:t>加速环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7889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绕核心布局 · 孵化器 + 加速器 + 技术转移中心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AE6F"/>
                </a:solidFill>
                <a:latin typeface="Microsoft YaHei"/>
              </a:defRPr>
            </a:pPr>
            <a:r>
              <a:t>测试场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461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北部临北五环 · AI产业测试验证场景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AI场景（5大功能 + 3个测试验证场景）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2697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54864" cy="41148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51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AI全栈研发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4206240"/>
            <a:ext cx="2697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29000" y="4206240"/>
            <a:ext cx="54864" cy="41148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4251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开源创新实验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206240"/>
            <a:ext cx="2697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206240"/>
            <a:ext cx="54864" cy="41148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251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算力基础设施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4206240"/>
            <a:ext cx="2697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4206240"/>
            <a:ext cx="54864" cy="41148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4251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加速器孵化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09160"/>
            <a:ext cx="2697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709160"/>
            <a:ext cx="54864" cy="41148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754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AI测试验证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4709160"/>
            <a:ext cx="2697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29000" y="4709160"/>
            <a:ext cx="54864" cy="41148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754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自动驾驶测试走廊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709160"/>
            <a:ext cx="2697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709160"/>
            <a:ext cx="54864" cy="41148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754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机器人配送试验区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4709160"/>
            <a:ext cx="2697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89720" y="4709160"/>
            <a:ext cx="54864" cy="41148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4754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AI+医疗验证中心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303520"/>
            <a:ext cx="11064240" cy="91440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3492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crosoft YaHei"/>
              </a:defRPr>
            </a:pPr>
            <a:r>
              <a:t>开放创新街区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全面采用开放街区模式，取消围墙门禁。研发楼宇沿城市街道布局，底层设开放实验室展示窗口和公共算力接入站。街区中心设开源广场，参照柏林Silicon Allee“开放实验室街道”模式。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重点区域二：北京AI原点社区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Key Area 2: Beijing AI Origin Community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743200" cy="914400"/>
          </a:xfrm>
          <a:prstGeom prst="round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DBB"/>
                </a:solidFill>
                <a:latin typeface="Microsoft YaHei"/>
              </a:defRPr>
            </a:pPr>
            <a:r>
              <a:t>面积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104.3 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234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定位：世界级AI创新生态的社区载体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AI人才向往的高品质生活城区——宜居社区建设示范标杆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65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923C"/>
                </a:solidFill>
                <a:latin typeface="Microsoft YaHei"/>
              </a:defRPr>
            </a:pPr>
            <a:r>
              <a:t>空间结构："社区中心 + 生活街坊 + 交往节点"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77440"/>
            <a:ext cx="5394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394960" cy="4572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923C"/>
                </a:solidFill>
                <a:latin typeface="Microsoft YaHei"/>
              </a:defRPr>
            </a:pPr>
            <a:r>
              <a:t>邻里中心特色宜居社区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3个一级邻里中心（服务半径300米）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1个二级街区邻里中心（结合轨道站点）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5分钟步行可达一级邻里中心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10分钟步行可达二级邻里中心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参照新加坡淡滨尼天地（Our Tampines Hub）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邻里中心 = 服务设施 + 社区交往 + 创新孵化器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377440"/>
            <a:ext cx="54864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377440"/>
            <a:ext cx="5486400" cy="457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7DD8"/>
                </a:solidFill>
                <a:latin typeface="Microsoft YaHei"/>
              </a:defRPr>
            </a:pPr>
            <a:r>
              <a:t>开放生活街区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346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居住/工作/服务功能同一街区内水平混合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街道宽度控制在12-18米，步行舒适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取消封闭式小区围墙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景观小品和建筑退界界定组团边界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每个街区至少一处口袋公园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每个街区至少一处邻里交往空间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AI场景（5大场景 + 未来生活体验街）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86400"/>
            <a:ext cx="173736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54864" cy="41148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532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AI+教育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5486400"/>
            <a:ext cx="173736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68880" y="5486400"/>
            <a:ext cx="54864" cy="41148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40" y="5532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AI+医疗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486400"/>
            <a:ext cx="173736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5486400"/>
            <a:ext cx="54864" cy="41148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5532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AI+生活服务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5486400"/>
            <a:ext cx="173736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5486400"/>
            <a:ext cx="54864" cy="41148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5532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AI+社区治理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5486400"/>
            <a:ext cx="173736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5486400"/>
            <a:ext cx="54864" cy="41148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5532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AI+安全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49840" y="5486400"/>
            <a:ext cx="173736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49840" y="5486400"/>
            <a:ext cx="54864" cy="41148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87000" y="5532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未来生活体验街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重点区域三：大钟寺AI产业聚集区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Key Area 3: Dazhongsi AI Industry Zone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743200" cy="914400"/>
          </a:xfrm>
          <a:prstGeom prst="round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FFCC"/>
                </a:solidFill>
                <a:latin typeface="Microsoft YaHei"/>
              </a:defRPr>
            </a:pPr>
            <a:r>
              <a:t>面积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72.0 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234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定位：智能原生新业态集聚区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AI产业转化和商业服务的南部门户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65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AE6F"/>
                </a:solidFill>
                <a:latin typeface="Microsoft YaHei"/>
              </a:defRPr>
            </a:pPr>
            <a:r>
              <a:t>空间结构："产业办公 + 商业服务 + 文化展示"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AE6F"/>
                </a:solidFill>
                <a:latin typeface="Microsoft YaHei"/>
              </a:defRPr>
            </a:pPr>
            <a:r>
              <a:t>产业办公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317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走廊东侧布局 · AI产业楼宇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923C"/>
                </a:solidFill>
                <a:latin typeface="Microsoft YaHei"/>
              </a:defRPr>
            </a:pPr>
            <a:r>
              <a:t>商业服务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7889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走廊西侧布局 · 智能原生消费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7DD8"/>
                </a:solidFill>
                <a:latin typeface="Microsoft YaHei"/>
              </a:defRPr>
            </a:pPr>
            <a:r>
              <a:t>文化展示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461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大钟寺历史文脉 · 京张铁路文化+现代AI文化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53949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5394960" cy="45720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AE6F"/>
                </a:solidFill>
                <a:latin typeface="Microsoft YaHei"/>
              </a:defRPr>
            </a:pPr>
            <a:r>
              <a:t>开放产业街区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产业办公/商业/文化垂直混合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底层商业界面连续率 ≥ 70%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产业楼宇与城市商业无缝衔接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打破“产业园”与“城市”二元分隔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2个一级邻里中心服务从业者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84048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840480"/>
            <a:ext cx="5486400" cy="457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7DD8"/>
                </a:solidFill>
                <a:latin typeface="Microsoft YaHei"/>
              </a:defRPr>
            </a:pPr>
            <a:r>
              <a:t>AI场景与站城一体化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2976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AI+商业：智能原生消费体验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AI导览：大钟寺文化导览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企业服务：AI企业服务大厅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交通接驳：大钟寺站城一体化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参照东京涩谷Stream模式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AI场景卡（12张）与测试验证场景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AI Scenario Cards &amp; Test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26974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2697480" cy="36576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7DD8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AI+自动驾驶接驳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众智园测试场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280160"/>
            <a:ext cx="26974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280160"/>
            <a:ext cx="2697480" cy="36576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3533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923C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6002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机器人配送网络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6596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三区全覆盖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280160"/>
            <a:ext cx="26974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280160"/>
            <a:ext cx="2697480" cy="36576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3533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AE6F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002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AI+医疗社区诊站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6596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AI原点社区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280160"/>
            <a:ext cx="26974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280160"/>
            <a:ext cx="2697480" cy="36576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3533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7DD8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6002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AI+教育个性化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196596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社区教育设施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606040"/>
            <a:ext cx="26974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606040"/>
            <a:ext cx="2697480" cy="36576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6791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923C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926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AI导览文化叙事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29184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京张走廊全线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2606040"/>
            <a:ext cx="26974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9000" y="2606040"/>
            <a:ext cx="2697480" cy="36576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26791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AE6F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2926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AI+公共安全感知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329184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重点公共空间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2606040"/>
            <a:ext cx="26974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2606040"/>
            <a:ext cx="2697480" cy="36576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6791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7DD8"/>
                </a:solidFill>
                <a:latin typeface="Microsoft YaHei"/>
              </a:defRPr>
            </a:pPr>
            <a:r>
              <a:t>#7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926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AI+企业服务大厅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29184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大钟寺产业区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9720" y="2606040"/>
            <a:ext cx="26974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89720" y="2606040"/>
            <a:ext cx="2697480" cy="36576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26791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923C"/>
                </a:solidFill>
                <a:latin typeface="Microsoft YaHei"/>
              </a:defRPr>
            </a:pPr>
            <a:r>
              <a:t>#8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2926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智能原生消费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329184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大钟寺商业区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3931920"/>
            <a:ext cx="26974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3931920"/>
            <a:ext cx="2697480" cy="36576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0050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AE6F"/>
                </a:solidFill>
                <a:latin typeface="Microsoft YaHei"/>
              </a:defRPr>
            </a:pPr>
            <a:r>
              <a:t>#9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251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AI+交通信号优化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61772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主要交叉口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29000" y="3931920"/>
            <a:ext cx="26974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29000" y="3931920"/>
            <a:ext cx="2697480" cy="36576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20440" y="40050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7DD8"/>
                </a:solidFill>
                <a:latin typeface="Microsoft YaHei"/>
              </a:defRPr>
            </a:pPr>
            <a:r>
              <a:t>#10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20440" y="4251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AI+能源管理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20440" y="461772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三区建筑群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3931920"/>
            <a:ext cx="26974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09360" y="3931920"/>
            <a:ext cx="2697480" cy="36576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40050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923C"/>
                </a:solidFill>
                <a:latin typeface="Microsoft YaHei"/>
              </a:defRPr>
            </a:pPr>
            <a:r>
              <a:t>#11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251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AI+环境监测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61772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走廊绿地水系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89720" y="3931920"/>
            <a:ext cx="26974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89720" y="3931920"/>
            <a:ext cx="2697480" cy="36576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81160" y="40050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AE6F"/>
                </a:solidFill>
                <a:latin typeface="Microsoft YaHei"/>
              </a:defRPr>
            </a:pPr>
            <a:r>
              <a:t>#12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81160" y="4251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开源贡献者荣誉墙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81160" y="461772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众智园核心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349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产业测试验证场景（4个）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8640" y="5669280"/>
            <a:ext cx="2697480" cy="59436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5715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自动驾驶测试走廊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5989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Microsoft YaHei"/>
              </a:defRPr>
            </a:pPr>
            <a:r>
              <a:t>L4级测试路段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29000" y="5669280"/>
            <a:ext cx="2697480" cy="59436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66160" y="5715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机器人配送试验区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66160" y="5989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Microsoft YaHei"/>
              </a:defRPr>
            </a:pPr>
            <a:r>
              <a:t>人机共存验证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09360" y="5669280"/>
            <a:ext cx="2697480" cy="59436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46520" y="5715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AI+医疗验证中心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46520" y="5989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Microsoft YaHei"/>
              </a:defRPr>
            </a:pPr>
            <a:r>
              <a:t>AI辅助诊断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189720" y="5669280"/>
            <a:ext cx="2697480" cy="59436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326880" y="5715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城市AI治理沙盒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26880" y="5989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Microsoft YaHei"/>
              </a:defRPr>
            </a:pPr>
            <a:r>
              <a:t>AI辅助治理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AI朝圣地标（4个）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AI Pilgrimage Landmarks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949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73152" cy="22860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7DD8"/>
                </a:solidFill>
                <a:latin typeface="Microsoft YaHei"/>
              </a:defRPr>
            </a:pPr>
            <a:r>
              <a:t>地标1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智能体贡献荣誉墙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93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📍 众智园核心公共空间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以实体碑刻和数字展示结合，永久记录对京张AI创新带有贡献的智能体和开发者。碑刻采用京张铁路铁轨钢材再生利用。全球第一个为AI智能体设立的城市荣誉纪念碑。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3949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73152" cy="228600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898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923C"/>
                </a:solidFill>
                <a:latin typeface="Microsoft YaHei"/>
              </a:defRPr>
            </a:pPr>
            <a:r>
              <a:t>地标2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京张AI里程碑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93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📍 走廊中段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2860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以时间轴展示从1909年詹天佑设计京张铁路到2026年AI创新带建设的百年创新里程碑。每个节点设AI交互装置，访客可通过语音或手势与历史对话。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53949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73152" cy="2286000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130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E6F"/>
                </a:solidFill>
                <a:latin typeface="Microsoft YaHei"/>
              </a:defRPr>
            </a:pPr>
            <a:r>
              <a:t>地标3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开源成果展示廊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165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📍 走廊沿线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开放式展览长廊，展示AI创新带产出的开源项目、技术突破和场景应用成果。采用可更新模块设计，内容每季度轮换。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703320"/>
            <a:ext cx="53949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703320"/>
            <a:ext cx="73152" cy="228600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8130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923C"/>
                </a:solidFill>
                <a:latin typeface="Microsoft YaHei"/>
              </a:defRPr>
            </a:pPr>
            <a:r>
              <a:t>地标4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未来生活体验街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4165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📍 AI原点社区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7091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以街道博物馆形式集中展示AI+生活场景的今日与未来。两侧布局AI零售、AI餐饮、AI健康和AI娱乐体验店，访客可现场体验AI原生生活方式。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蓝绿空间与交通系统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Blue-Green Space &amp; Transportation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AE6F"/>
                </a:solidFill>
                <a:latin typeface="Microsoft YaHei"/>
              </a:defRPr>
            </a:pPr>
            <a:r>
              <a:t>蓝绿空间系统：水脉-绿脊-绿带-绿园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914400" cy="640080"/>
          </a:xfrm>
          <a:prstGeom prst="round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水脉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916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小月河水系为蓝绿网络水系主脉。河道生态修复、滨水缓冲区保护、岸线公共化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914400" cy="64008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绿脊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4688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京张走廊遗址公园南北贯通绿色主脊，全长9公里无断点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914400" cy="640080"/>
          </a:xfrm>
          <a:prstGeom prst="round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绿带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461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沿主干道和慢行廊道10-30米宽带状绿地，连接水脉与绿脊，兼具海绵调蓄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40"/>
            <a:ext cx="914400" cy="640080"/>
          </a:xfrm>
          <a:prstGeom prst="round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绿园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0233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三区内部中央绿地和口袋公园，500米半径绿地服务圈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46320"/>
            <a:ext cx="5486400" cy="118872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AE6F"/>
                </a:solidFill>
                <a:latin typeface="Microsoft YaHei"/>
              </a:defRPr>
            </a:pPr>
            <a:r>
              <a:t>海绵城市基底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年径流总量控制率 ≥ 80%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雨水花园 + 透水铺装 + 绿色屋顶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每块绿地同时承担生态、景观和调蓄功能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923C"/>
                </a:solidFill>
                <a:latin typeface="Microsoft YaHei"/>
              </a:defRPr>
            </a:pPr>
            <a:r>
              <a:t>交通系统："道路为骨"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45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923C"/>
                </a:solidFill>
                <a:latin typeface="Microsoft YaHei"/>
              </a:defRPr>
            </a:pPr>
            <a:r>
              <a:t>主干路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6459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保持现状，不新增，避免割裂城市肌理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240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923C"/>
                </a:solidFill>
                <a:latin typeface="Microsoft YaHei"/>
              </a:defRPr>
            </a:pPr>
            <a:r>
              <a:t>次干路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2402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三区横向连接，形成与走廊的交通联系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34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923C"/>
                </a:solidFill>
                <a:latin typeface="Microsoft YaHei"/>
              </a:defRPr>
            </a:pPr>
            <a:r>
              <a:t>支路网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834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加密织细，街区尺度80-120m，密度≥10km/km²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29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923C"/>
                </a:solidFill>
                <a:latin typeface="Microsoft YaHei"/>
              </a:defRPr>
            </a:pPr>
            <a:r>
              <a:t>慢行廊道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4290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京张走廊南北主轴+小月河东西次轴=十字骨架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114800"/>
            <a:ext cx="52120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114800"/>
            <a:ext cx="5212080" cy="457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206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crosoft YaHei"/>
              </a:defRPr>
            </a:pPr>
            <a:r>
              <a:t>轨道站点一体化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5720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参照东京涩谷Stream模式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站点周边500m布局AI生活场景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站点出入口与慢行廊道直接衔接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站城一体化设计，无缝换乘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智慧路面：传感器+充电设施预埋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实施分期计划（18个项目）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Implementation Phasing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5661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566160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近期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2026-2028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7DD8"/>
                </a:solidFill>
                <a:latin typeface="Microsoft YaHei"/>
              </a:defRPr>
            </a:pPr>
            <a:r>
              <a:t>共 5项 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1. 大钟寺AI产业区核心建筑改造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2. 京张走廊南段公共空间和慢行道建设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3. AI场景测试广场建设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4. 大钟寺站城一体化改造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5. 大钟寺产业区2个一级邻里中心建设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5661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280160"/>
            <a:ext cx="3566160" cy="457200"/>
          </a:xfrm>
          <a:prstGeom prst="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中期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2028-2030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923C"/>
                </a:solidFill>
                <a:latin typeface="Microsoft YaHei"/>
              </a:defRPr>
            </a:pPr>
            <a:r>
              <a:t>共 7项 项目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1. AI原点社区中心建设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2. AI原点社区3+1个邻里中心建设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474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3. 人才公寓建设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069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4. 开发者广场和未来生活体验街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663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5. 走廊中段慢行系统和绿地建设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257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6. AI+医疗和AI+教育场景部署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852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7. 众智园3个一级邻里中心建设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1280160"/>
            <a:ext cx="35661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1280160"/>
            <a:ext cx="3566160" cy="457200"/>
          </a:xfrm>
          <a:prstGeom prst="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远期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2030-2035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AE6F"/>
                </a:solidFill>
                <a:latin typeface="Microsoft YaHei"/>
              </a:defRPr>
            </a:pPr>
            <a:r>
              <a:t>共 6项 项目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1. 众智园AI研发核心区建设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2. 加速器和孵化器建筑群建设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474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3. 走廊邻里枢纽（三级）建设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069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4. 智能体贡献荣誉墙和AI里程碑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663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5. 走廊北段公共空间完善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257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6. 全域AI场景网络部署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政策建议：AI创新带专项更新政策 · 开源共治机制 · AI场景开放基金 · 人才引进绿色通道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核心指标汇总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Core Metrics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07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统筹研究范围面积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3075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43.6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075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km²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325880"/>
            <a:ext cx="731520" cy="274320"/>
          </a:xfrm>
          <a:prstGeom prst="round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官方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19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总体设计范围面积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7190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11.4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190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km²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737360"/>
            <a:ext cx="731520" cy="274320"/>
          </a:xfrm>
          <a:prstGeom prst="round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官方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03120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30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重点区域合计面积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130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3.684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1305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km²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148840"/>
            <a:ext cx="731520" cy="274320"/>
          </a:xfrm>
          <a:prstGeom prst="round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官方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514600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542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众智园加速区面积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5420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192.1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5420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ha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2560320"/>
            <a:ext cx="731520" cy="274320"/>
          </a:xfrm>
          <a:prstGeom prst="round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官方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926080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9535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AI原点社区面积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2953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104.3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9535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ha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0" y="2971800"/>
            <a:ext cx="731520" cy="274320"/>
          </a:xfrm>
          <a:prstGeom prst="round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官方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337560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3649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大钟寺产业区面积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3649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72.0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3649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ha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0" y="3383280"/>
            <a:ext cx="731520" cy="274320"/>
          </a:xfrm>
          <a:prstGeom prst="round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官方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749040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776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AI场景节点数量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37764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7764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0" y="3794760"/>
            <a:ext cx="731520" cy="27432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设计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160520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187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用户画像数量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4187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4187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类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0" y="4206240"/>
            <a:ext cx="731520" cy="27432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设计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572000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5994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产业测试验证场景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45994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45994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个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0" y="4617720"/>
            <a:ext cx="731520" cy="27432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设计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983480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010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AI朝圣地标数量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50109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50109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个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0" y="5029200"/>
            <a:ext cx="731520" cy="27432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设计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394960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422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邻里中心总数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54223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54223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个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0" y="5440680"/>
            <a:ext cx="731520" cy="27432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设计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806440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833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开放创新街区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91840" y="58338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89120" y="58338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个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0" y="5852160"/>
            <a:ext cx="731520" cy="27432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设计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0" y="1307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五分钟生活圈覆盖率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0" y="13075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49840" y="13075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789920" y="1325880"/>
            <a:ext cx="731520" cy="27432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设计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1691640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0" y="1719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支路网密度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0" y="17190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≥10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49840" y="17190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km/km²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789920" y="1737360"/>
            <a:ext cx="731520" cy="27432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设计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103120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0" y="2130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绿地率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0" y="2130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≥35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49840" y="21305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%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789920" y="2148840"/>
            <a:ext cx="731520" cy="27432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设计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309360" y="2514600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0" y="2542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绿化覆盖率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2560" y="25420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≥45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49840" y="25420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%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789920" y="2560320"/>
            <a:ext cx="731520" cy="27432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设计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09360" y="2926080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0" y="29535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海绵城市径流控制率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52560" y="2953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≥80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49840" y="29535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%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789920" y="2971800"/>
            <a:ext cx="731520" cy="27432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设计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09360" y="3337560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00800" y="33649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用地分区数量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52560" y="33649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149840" y="33649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个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789920" y="3383280"/>
            <a:ext cx="731520" cy="274320"/>
          </a:xfrm>
          <a:prstGeom prst="round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临时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09360" y="3749040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0" y="3776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建筑足迹数量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52560" y="37764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49840" y="37764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组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789920" y="3794760"/>
            <a:ext cx="731520" cy="27432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设计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09360" y="4160520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00800" y="4187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更新项目数量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0" y="4187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49840" y="4187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项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789920" y="4206240"/>
            <a:ext cx="731520" cy="27432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设计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309360" y="4572000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00800" y="45994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科创生态案例研究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052560" y="45994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49840" y="45994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个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0789920" y="4617720"/>
            <a:ext cx="731520" cy="27432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设计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983480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400800" y="5010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科创生态支柱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052560" y="50109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149840" y="50109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个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789920" y="5029200"/>
            <a:ext cx="731520" cy="27432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设计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309360" y="5394960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00800" y="5422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基地整理原则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52560" y="54223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149840" y="54223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个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0789920" y="5440680"/>
            <a:ext cx="731520" cy="27432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"/>
              </a:spcBef>
              <a:defRPr sz="800">
                <a:solidFill>
                  <a:srgbClr val="FFFFFF"/>
                </a:solidFill>
              </a:defRPr>
            </a:pPr>
            <a:r>
              <a:t>设计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版权声明与合规说明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Copyright &amp;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7DD8"/>
                </a:solidFill>
                <a:latin typeface="Microsoft YaHei"/>
              </a:defRPr>
            </a:pPr>
            <a:r>
              <a:t>合规矩阵覆盖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1.3 设计任务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755648"/>
            <a:ext cx="2011680" cy="274320"/>
          </a:xfrm>
          <a:prstGeom prst="round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>
                <a:solidFill>
                  <a:srgbClr val="FFFFFF"/>
                </a:solidFill>
              </a:defRPr>
            </a:pPr>
            <a:r>
              <a:t>全部覆盖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1.4 智能体任务 (6项)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258568"/>
            <a:ext cx="2011680" cy="274320"/>
          </a:xfrm>
          <a:prstGeom prst="round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>
                <a:solidFill>
                  <a:srgbClr val="FFFFFF"/>
                </a:solidFill>
              </a:defRPr>
            </a:pPr>
            <a:r>
              <a:t>agent.1 ~ agent.6 全部覆盖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1.5 设计深度要求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2761488"/>
            <a:ext cx="2011680" cy="274320"/>
          </a:xfrm>
          <a:prstGeom prst="round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>
                <a:solidFill>
                  <a:srgbClr val="FFFFFF"/>
                </a:solidFill>
              </a:defRPr>
            </a:pPr>
            <a:r>
              <a:t>全部标记为 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五项强制性专业标准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3264408"/>
            <a:ext cx="2011680" cy="274320"/>
          </a:xfrm>
          <a:prstGeom prst="round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>
                <a:solidFill>
                  <a:srgbClr val="FFFFFF"/>
                </a:solidFill>
              </a:defRPr>
            </a:pPr>
            <a:r>
              <a:t>标准矩阵全部覆盖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十条共创原则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3767328"/>
            <a:ext cx="2011680" cy="274320"/>
          </a:xfrm>
          <a:prstGeom prst="roundRect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>
                <a:solidFill>
                  <a:srgbClr val="FFFFFF"/>
                </a:solidFill>
              </a:defRPr>
            </a:pPr>
            <a:r>
              <a:t>正文中逐条回应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统一边界条款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4270248"/>
            <a:ext cx="2011680" cy="274320"/>
          </a:xfrm>
          <a:prstGeom prst="roundRect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>
                <a:solidFill>
                  <a:srgbClr val="FFFFFF"/>
                </a:solidFill>
              </a:defRPr>
            </a:pPr>
            <a:r>
              <a:t>使用临时粗略边界并标注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版权与免责声明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737360"/>
            <a:ext cx="52120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737360"/>
            <a:ext cx="521208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✓ 资料合法性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所有资料来自公开渠道或仓库已清权材料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✓ 版权授权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Logo/视觉识别为概念建议，未使用未授权素材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✓ AI生成责任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本方案由AI智能体(WorkBuddy)生成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所有内容均为概念建议/参考方案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不替代正式规划，不构成政府审定结论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最终判断由人类和专业团队完成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⚠ 待补资料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1. 官方精确边界数据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2. 官方控规条件(容积率/高度/密度)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3. 现状建筑普查和权属确认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4. 市政容量和工程可行性测算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5. 文物保护详细范围和控制要求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参考资料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9525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7DD8"/>
                </a:solidFill>
                <a:latin typeface="Microsoft YaHei"/>
              </a:defRPr>
            </a:pPr>
            <a:r>
              <a:t>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7160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北京市规划和自然资源委员会海淀分局，《百年京张AI创新带城市设计国际方案征集资格预审公告》，2026年5月9日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647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7DD8"/>
                </a:solidFill>
                <a:latin typeface="Microsoft YaHei"/>
              </a:defRPr>
            </a:pPr>
            <a:r>
              <a:t>[2]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6479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面向全球智能体开展百年京张AI创新带城市设计开源征集任务书摘录，2026年5月18日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5798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7DD8"/>
                </a:solidFill>
                <a:latin typeface="Microsoft YaHei"/>
              </a:defRPr>
            </a:pPr>
            <a:r>
              <a:t>[3]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5798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北京市科学技术委员会、中关村科技园区管理委员会，“三区两翼”打造世界级AI集聚地，2026年4月3日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5117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7DD8"/>
                </a:solidFill>
                <a:latin typeface="Microsoft YaHei"/>
              </a:defRPr>
            </a:pPr>
            <a:r>
              <a:t>[4]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5117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北京市海淀区人民政府，海淀区“1+X+1”现代化产业体系建设布局，2026年3月2日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44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7DD8"/>
                </a:solidFill>
                <a:latin typeface="Microsoft YaHei"/>
              </a:defRPr>
            </a:pPr>
            <a:r>
              <a:t>[5]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4436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中华人民共和国住房和城乡建设部，《城市设计管理办法》，2017年3月14日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375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7DD8"/>
                </a:solidFill>
                <a:latin typeface="Microsoft YaHei"/>
              </a:defRPr>
            </a:pPr>
            <a:r>
              <a:t>[6]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3375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中华人民共和国住房和城乡建设部，《城市、镇控制性详细规划编制审批办法》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307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7DD8"/>
                </a:solidFill>
                <a:latin typeface="Microsoft YaHei"/>
              </a:defRPr>
            </a:pPr>
            <a:r>
              <a:t>[7]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3075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自然资源部，《国土空间调查、规划、用途管制用地用海分类指南》，2023年11月22日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239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7DD8"/>
                </a:solidFill>
                <a:latin typeface="Microsoft YaHei"/>
              </a:defRPr>
            </a:pPr>
            <a:r>
              <a:t>[8]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239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仓库维护者提供的临时粗略边界数据，2026年6月5日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171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7DD8"/>
                </a:solidFill>
                <a:latin typeface="Microsoft YaHei"/>
              </a:defRPr>
            </a:pPr>
            <a:r>
              <a:t>[9]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51713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OpenStreetMap版权和许可（ODbL），用于背景参照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103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7DD8"/>
                </a:solidFill>
                <a:latin typeface="Microsoft YaHei"/>
              </a:defRPr>
            </a:pPr>
            <a:r>
              <a:t>[10]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91032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国家互联网信息办公室等七部门，《生成式人工智能服务管理暂行办法》，2023年7月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7DD8"/>
                </a:solidFill>
                <a:latin typeface="Microsoft YaHei"/>
              </a:defRPr>
            </a:pPr>
            <a:r>
              <a:t>[11]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3035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《科创生态能否后来居上？——以波士顿和纽约为例》案例研究文献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967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7DD8"/>
                </a:solidFill>
                <a:latin typeface="Microsoft YaHei"/>
              </a:defRPr>
            </a:pPr>
            <a:r>
              <a:t>[12]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69671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苏州南岸新地OPC创新社区简介文献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AI创新生态廊 (AIEC) · 百年京张AI创新带城市设计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381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70048"/>
            <a:ext cx="12191695" cy="381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79776"/>
            <a:ext cx="12191695" cy="381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7DD8"/>
                </a:solidFill>
                <a:latin typeface="Microsoft YaHei"/>
              </a:defRPr>
            </a:pPr>
            <a:r>
              <a:t>AI Innovation Ecosystem Corridor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923C"/>
                </a:solidFill>
                <a:latin typeface="Microsoft YaHei"/>
              </a:defRPr>
            </a:pPr>
            <a:r>
              <a:t>百年京张的智能新生</a:t>
            </a:r>
          </a:p>
        </p:txBody>
      </p:sp>
      <p:sp>
        <p:nvSpPr>
          <p:cNvPr id="8" name="Oval 7"/>
          <p:cNvSpPr/>
          <p:nvPr/>
        </p:nvSpPr>
        <p:spPr>
          <a:xfrm>
            <a:off x="5394960" y="4846320"/>
            <a:ext cx="274320" cy="274320"/>
          </a:xfrm>
          <a:prstGeom prst="ellipse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52160" y="4846320"/>
            <a:ext cx="274320" cy="274320"/>
          </a:xfrm>
          <a:prstGeom prst="ellipse">
            <a:avLst/>
          </a:prstGeom>
          <a:solidFill>
            <a:srgbClr val="E8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0" y="4846320"/>
            <a:ext cx="274320" cy="274320"/>
          </a:xfrm>
          <a:prstGeom prst="ellipse">
            <a:avLst/>
          </a:prstGeom>
          <a:solidFill>
            <a:srgbClr val="5BA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提交者: Jefferson-qi  |  版本: v1.2  |  2026年8月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788"/>
                </a:solidFill>
                <a:latin typeface="Microsoft YaHei"/>
              </a:defRPr>
            </a:pPr>
            <a:r>
              <a:t>本方案由AI智能体生成，所有内容均为概念建议，不替代正式规划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